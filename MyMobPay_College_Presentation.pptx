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MyMobPay</a:t>
            </a:r>
          </a:p>
          <a:p>
            <a:pPr>
              <a:defRPr sz="2000" b="1">
                <a:solidFill>
                  <a:srgbClr val="3B82F6"/>
                </a:solidFill>
                <a:latin typeface="Arial"/>
              </a:defRPr>
            </a:pPr>
            <a:r>
              <a:t>Zero-Commission Direct P2P UPI Payment Gateway &amp; SaaS Infrastructure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An Automated Bank SMS-Reconciliation Architecture Eliminating Aggregator Fees (0% MDR)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3383280" cy="192024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5204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0% Transaction Fee</a:t>
            </a:r>
          </a:p>
          <a:p>
            <a:br/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Direct P2P routing from customer to merchant account without 2-3% aggregator cut.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291840"/>
            <a:ext cx="3383280" cy="192024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35204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Sub-2s Reconciliation</a:t>
            </a:r>
          </a:p>
          <a:p>
            <a:br/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Automated SMS-to-Webhook parsing verifying payments instantly with zero manual effort.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291840"/>
            <a:ext cx="3383280" cy="192024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35204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Arial"/>
              </a:defRPr>
            </a:pPr>
            <a:r>
              <a:t>Full-Stack Modern SaaS</a:t>
            </a:r>
          </a:p>
          <a:p>
            <a:br/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Next.js 14 App Router, Supabase PostgreSQL, Tailwind CSS, and Cloudflare Edge.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Submitted by: Final Year Engineering Project Team  |  Domain: FinTech &amp; Full-Stack Cloud Computing</a:t>
            </a:r>
          </a:p>
          <a:p>
            <a:pPr>
              <a:defRPr sz="1000">
                <a:solidFill>
                  <a:srgbClr val="06B6D4"/>
                </a:solidFill>
                <a:latin typeface="Arial"/>
              </a:defRPr>
            </a:pPr>
            <a:r>
              <a:t>Live Production URL: https://mymob.tech  |  Tech: Next.js 14, Supabase (PostgreSQL), RESTful Webhooks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Arial"/>
              </a:defRPr>
            </a:pPr>
            <a:r>
              <a:t>01.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Introduction: The UPI Ecosystem &amp; Market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The Rise of Unified Payments Interface (UPI)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Revolutionary Growth: UPI processes over 14+ Billion transactions monthly in India, becoming the world's largest real-time retail payment system.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Zero Cost for P2P: Direct person-to-person UPI transactions incur ₹0 fees from NPCI.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Merchant Dilemma: Traditional payment gateways (Razorpay, Cashfree, PayU) treat UPI as a commercial gateway transaction and charge 1.8% to 3.0% per transaction + 18% GST.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Margin Destruction: For thin-margin B2B startups, creators, digital product sellers, and retail stores, 2-3% revenue loss directly wipes out net profit.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Project Objectives &amp;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Democratize B2B Payments: Build a self-hosted or SaaS-ready payment infrastructure with 0% gateway commission.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Direct Bank-to-Bank Settlement: Direct settlement to the merchant's UPI VPA instantly without T+1/T+2 holding days.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Automated Reconciliation: Solve the fundamental flaw of static QR codes (manual payment proof checking) using an automated SMS-parsing Webhook engine.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Enterprise-Grade UX: Provide dynamic QR generation, mobile UPI app deep-linking (GPay/PhonePe/Paytm), real-time status polling, and comprehensive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Arial"/>
              </a:defRPr>
            </a:pPr>
            <a:r>
              <a:t>02. NEED FOR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Problem Statement: Pain Points of Current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High Aggregator Commissions (MDR)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2E8F0"/>
                </a:solidFill>
                <a:latin typeface="Arial"/>
              </a:defRPr>
            </a:pPr>
            <a:r>
              <a:t>Traditional gateways charge 2% - 3% + GST on every transaction. On ₹10,00,000 monthly turnover, merchants lose ₹25,000 - ₹35,000 pure profit to middlemen.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2120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54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Settlement Delays &amp; Fund Freezes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2E8F0"/>
                </a:solidFill>
                <a:latin typeface="Arial"/>
              </a:defRPr>
            </a:pPr>
            <a:r>
              <a:t>Aggregators hold merchant funds for T+1 or T+2 working days. High-risk or sudden-volume merchants face arbitrary account freezes and withheld payouts.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Manual Static QR Verification Hell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2E8F0"/>
                </a:solidFill>
                <a:latin typeface="Arial"/>
              </a:defRPr>
            </a:pPr>
            <a:r>
              <a:t>Static paper QR codes require staff to manually inspect customer phone screenshots, creating long checkout queues, fake screenshot fraud, and accounting chaos.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023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Complex KYC &amp; High Entry Barriers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480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2E8F0"/>
                </a:solidFill>
                <a:latin typeface="Arial"/>
              </a:defRPr>
            </a:pPr>
            <a:r>
              <a:t>Small businesses and individual founders struggle with enterprise KYC, onboarding delays, recurring setup fees, and restrictive business categories.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Arial"/>
              </a:defRPr>
            </a:pPr>
            <a:r>
              <a:t>03.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Solution: MyMobPay Architecture &amp; Value Proposition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1. Direct P2P Payment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Generates dynamic UPI URLs linking directly to merchant's bank VPA. 100% of customer funds transfer immediately without escrow.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3832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544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2. Automated SMS Verification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Secure Android background daemon forwards incoming bank credit SMS to backend webhook. Regex engine parses amount &amp; UTR in real-time.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371600"/>
            <a:ext cx="33832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5544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3. Sub-2-Second Reconciliation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0116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State machine updates order status from 'created' -&gt; 'pending' -&gt; 'verified' within milliseconds of bank credit alert.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33832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0233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4. Seamless Cross-Platform 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Desktop shows interactive dynamic QR code; Mobile switches to native one-click intent launcher for Google Pay, PhonePe, Paytm, BHIM.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840480"/>
            <a:ext cx="33832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0233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5. Multi-Tenant Merchant SaaS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4805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Merchants manage custom branding, staff role-based access control, analytics, webhook endpoints, and API keys through a centralized dashboard.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3840480"/>
            <a:ext cx="33832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0233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6. Zero Intermediary Escrow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4805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No funds ever touch MyMobPay servers. Eliminates regulatory compliance bottlenecks, chargeback holds, and gateway escrow risks.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Arial"/>
              </a:defRPr>
            </a:pPr>
            <a:r>
              <a:t>04.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System Architecture: End-to-End Workflow &amp;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Step 1: Order Initiation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Client or external merchant site calls `/api/orders`.</a:t>
            </a:r>
            <a:br/>
            <a:r>
              <a:t>Generates unique Order ID &amp; custom UPI payment intent string (`upi://pay?pa=...`).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3832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544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Step 2: Customer Checkout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659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Desktop: High-fidelity QR rendered.</a:t>
            </a:r>
            <a:br/>
            <a:r>
              <a:t>Mobile: Native intent links for GPay / PhonePe.</a:t>
            </a:r>
            <a:br/>
            <a:r>
              <a:t>Customer authorizes payment via UPI PIN in bank 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371600"/>
            <a:ext cx="33832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5544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Step 3: Instant Bank Credit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9659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Funds are instantly credited from Customer Bank Account to Merchant Bank Account via NPCI UPI network.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33832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0233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Step 4: SMS Forwarder Webhook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Merchant's Android device receives bank SMS.</a:t>
            </a:r>
            <a:br/>
            <a:r>
              <a:t>Forwarder app triggers secure POST request to `/api/webhook/sms` with HMAC verification.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840480"/>
            <a:ext cx="33832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0233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Step 5: Parsing &amp; Reconciliation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43484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Backend Regex engine identifies bank, parses amount &amp; UTR, queries pending orders, transitions status to 'verified', logs timestamp.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3840480"/>
            <a:ext cx="33832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0233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Step 6: Real-Time Client 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43484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Customer `/status/[orderId]` UI updates immediately via smart polling / Supabase Realtime.</a:t>
            </a:r>
            <a:br/>
            <a:r>
              <a:t>Dispatches HMAC-signed merchant webhook.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Arial"/>
              </a:defRPr>
            </a:pPr>
            <a:r>
              <a:t>05. TECHNICAL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Core Engine: Bank SMS Regex Parser (`parseSms.js`)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Supported Indian Banking Gateways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✓ State Bank of India (SBI): Detects 'credited by Rs.', UPI Ref numbers, account masks.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✓ HDFC Bank: Extracts 'deposited', 'credited to account', 'UPI/Ref/...' structures.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✓ ICICI Bank: Parses 'credited with INR', 12-digit UTR sequences, timestamp logs.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✓ Axis Bank: Matches 'received in A/c', UPI transaction references.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  <a:latin typeface="Arial"/>
              </a:defRPr>
            </a:pPr>
            <a:r>
              <a:t>✓ Indian Overseas Bank (IOB) &amp; Generic Fallback: Robust heuristic regex extracting standard currency formats `(?:Rs\.?|INR)\s*([\d,]+\.?\d*)`.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SMS Parsing &amp; Fraud Guard Code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Stateless Token Security: Requests require strict `webhookSecret` verification in payload headers.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Anti-Collision Matching: Matches against `orders` where `status = 'pending'` and `amount = parsed_amount` ordered by `created_at DESC` within a 15-minute validity window.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Unique UTR Enforcement: Extracted 12-digit UPI UTR number is stored under PostgreSQL `UNIQUE` constraint preventing duplicate SMS replay attacks.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Atomic State Transitions: Database mutations run with service-role privileges bypassing client-side tampering.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Arial"/>
              </a:defRPr>
            </a:pPr>
            <a:r>
              <a:t>06. 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Security Architecture: Anti-Fraud &amp; Data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Duplicate UTR Replay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Every bank SMS contains a unique 12-digit UTR / Reference ID. Supabase enforces a database-level UNIQUE constraint on the `utr` column. Duplicate requests return `DUPLICATE_UTR` error and are discarded.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2120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54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HMAC Webhook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Incoming SMS forwarder requests must include the pre-shared `webhookSecret` in headers/payload, shielding the endpoint from rogue network scans and spam.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PCI-DSS Compliance by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No customer debit card numbers, CVVs, UPI PINs, or bank passwords ever enter or touch MyMobPay servers. The system only handles public VPAs and standard NPCI intent strings.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023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Role-Based Access Control (RBAC)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480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Multi-tenant merchant isolation with secure authentication via Supabase Auth. Staff permissions hierarchy (Admin vs Cashier vs Developer).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Arial"/>
              </a:defRPr>
            </a:pPr>
            <a:r>
              <a:t>07. DATA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Database Design: PostgreSQL Relational Schema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Table: `merchants`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• `id`: UUID (Primary Key / Auth ID)</a:t>
            </a:r>
            <a:br/>
            <a:r>
              <a:t>• `business_name`: Text</a:t>
            </a:r>
            <a:br/>
            <a:r>
              <a:t>• `upi_id`: Text (Receiving VPA)</a:t>
            </a:r>
            <a:br/>
            <a:r>
              <a:t>• `phone_number`: Text (10 digits)</a:t>
            </a:r>
            <a:br/>
            <a:r>
              <a:t>• `subscription_status`: Enum ('active', 'trial')</a:t>
            </a:r>
            <a:br/>
            <a:r>
              <a:t>• `sandbox_mode`: Boolean (Simulation flag)</a:t>
            </a:r>
            <a:br/>
            <a:r>
              <a:t>• `theme_color`: Hex Code (#3B82F6)</a:t>
            </a:r>
            <a:br/>
            <a:r>
              <a:t>• `created_at`: Timestamp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544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Table: `orders`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• `id`: Text (Short unique ID, e.g. O1B2)</a:t>
            </a:r>
            <a:br/>
            <a:r>
              <a:t>• `merchant_id`: UUID (Foreign Key)</a:t>
            </a:r>
            <a:br/>
            <a:r>
              <a:t>• `amount`: Numeric(10,2) (Transaction value)</a:t>
            </a:r>
            <a:br/>
            <a:r>
              <a:t>• `status`: Enum ('pending','verified','rejected')</a:t>
            </a:r>
            <a:br/>
            <a:r>
              <a:t>• `utr`: Text (UNIQUE constraint)</a:t>
            </a:r>
            <a:br/>
            <a:r>
              <a:t>• `customer_name`: Text</a:t>
            </a:r>
            <a:br/>
            <a:r>
              <a:t>• `customer_phone`: Text</a:t>
            </a:r>
            <a:br/>
            <a:r>
              <a:t>• `verified_at`: Timestamp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5544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Table: `admin_settings` &amp; `staff`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• `id`: UUID / Text Key</a:t>
            </a:r>
            <a:br/>
            <a:r>
              <a:t>• `user_id`: UUID (Foreign Key to auth.users)</a:t>
            </a:r>
            <a:br/>
            <a:r>
              <a:t>• `role`: Enum ('super_admin','staff','cashier')</a:t>
            </a:r>
            <a:br/>
            <a:r>
              <a:t>• `webhook_url`: Text (Developer Notification)</a:t>
            </a:r>
            <a:br/>
            <a:r>
              <a:t>• `webhook_secret`: Text (HMAC Key)</a:t>
            </a:r>
            <a:br/>
            <a:r>
              <a:t>• `totp_secret`: Text (Two-factor auth)</a:t>
            </a:r>
            <a:br/>
            <a:r>
              <a:t>• `is_active`: Boolean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Arial"/>
              </a:defRPr>
            </a:pPr>
            <a:r>
              <a:t>08.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Technology Stack &amp; Development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Frontend 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• Next.js 14 (App Router &amp; Server Components)</a:t>
            </a:r>
            <a:br/>
            <a:r>
              <a:t>• Tailwind CSS (Utility-First Responsive UI)</a:t>
            </a:r>
            <a:br/>
            <a:r>
              <a:t>• Lucide Icons (Modern Iconography)</a:t>
            </a:r>
            <a:br/>
            <a:r>
              <a:t>• React-QR-Code (Dynamic Vector QR Rendering)</a:t>
            </a:r>
            <a:br/>
            <a:r>
              <a:t>• Canvas Confetti (Celebratory Success UX)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2120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54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Backend &amp; Edge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• Next.js Edge &amp; Serverless API Handlers</a:t>
            </a:r>
            <a:br/>
            <a:r>
              <a:t>• Node.js Crypto (HMAC SHA-256 Signature Tokenization)</a:t>
            </a:r>
            <a:br/>
            <a:r>
              <a:t>• Cloudflare Workers (High-Throughput Forwarding)</a:t>
            </a:r>
            <a:br/>
            <a:r>
              <a:t>• RESTful JSON API Protocols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Database &amp; Cloud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• Supabase (Managed PostgreSQL DB)</a:t>
            </a:r>
            <a:br/>
            <a:r>
              <a:t>• Row-Level Security (RLS) Policy Layer</a:t>
            </a:r>
            <a:br/>
            <a:r>
              <a:t>• Supabase Service-Role Admin Client</a:t>
            </a:r>
            <a:br/>
            <a:r>
              <a:t>• Vercel Global Edge Network Deployment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023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Android Daemon Forwarder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480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• Background SMS Listener Service</a:t>
            </a:r>
            <a:br/>
            <a:r>
              <a:t>• BroadcastReceiver on `SMS_RECEIVED`</a:t>
            </a:r>
            <a:br/>
            <a:r>
              <a:t>• Auto-retry queue for poor connectivity</a:t>
            </a:r>
            <a:br/>
            <a:r>
              <a:t>• Secure HTTPS POST payload dispatch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Arial"/>
              </a:defRPr>
            </a:pPr>
            <a:r>
              <a:t>09.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UI/UX Design: Intelligent Dual-Device Checkout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🖥️ Desktop Checkout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Real-Time Dynamic QR Code: Encodes NPCI URI parameters (`pa`, `pn`, `am`, `cu`, `tn`, `tr`).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Visual Laser Scanner Animation: Polished fintech aesthetics instilling trust and credibility.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Auto-Expiry Countdown Timer: 10-minute validity preventing stale pending order buildup.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Instant Verification Transition: Smooth animation into celebratory verified badge with transaction summary receipt.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📱 Mobile Checkout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1-Click App Deep Linking: Direct trigger buttons for Google Pay, PhonePe, Paytm, BHIM, and Cred.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Zero Typing Friction: Pre-fills receiving VPA and exact payable amount in UPI app directly.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Smart Background App Switching: Customer returns to browser tab where status screen automatically detects settlement.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• Direct Direct-Signup Integration: Streamlined merchant onboarding with zero OTP friction.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Arial"/>
              </a:defRPr>
            </a:pPr>
            <a:r>
              <a:t>10. MANAGEMENT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Merchant Console &amp; Super Admin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Live Revenue &amp; Order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Real-time KPI metrics: Total Gross Volume (₹), Today's Collections, Successful vs Pending Orders, and Conversion Rate graphs.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2120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54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Manual Override &amp; Dispute Resolution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Full transaction audit ledger with search, filtering by date/status, and manual 'Force Verify' / 'Reject' administrator overrides.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Sandbox Simulation Suite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Built-in mock payment simulator allowing developers and staff to test end-to-end webhook flows without spending actual money.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023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API Keys &amp; Webhook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480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Generate HMAC-signed developer API keys, configure outgoing webhook listener URLs, and inspect request delivery logs.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Arial"/>
              </a:defRPr>
            </a:pPr>
            <a:r>
              <a:t>11. 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Comparative Analysis: MyMobPay vs Traditional Gateways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114800"/>
                <a:gridCol w="3657600"/>
              </a:tblGrid>
              <a:tr h="679268"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 / 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Traditional Gateways (Razorpay/Cashfree)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MyMobPay (Proposed Solution)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Transaction Fee (MDR)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2.0% - 3.0% + 18% GST per transaction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0% (Zero Gateway Commission)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Settlement Speed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T+1 or T+2 Business Days (Delayed)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Instant (0 Seconds directly in bank)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Intermediary Custody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Funds held in Aggregator Escrow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Direct P2P (Zero Custodial Risk)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Verification Method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Aggregator Webhook Callback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Automated Bank SMS Parsing (&lt; 2s)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Account Freezes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Frequent due to automated risk triggers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Impossible (Bank retains full custody)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Monthly Cost Model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High variable commission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Predictable flat SaaS subscription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Arial"/>
              </a:defRPr>
            </a:pPr>
            <a:r>
              <a:t>12.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Future Scope, Commercialization &amp; Technical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AI-Powered Anomaly &amp; Fraud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Deploy machine learning models to detect irregular transaction bursts, spoofed SMS patterns, and unusual geographic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2120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54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Hardware Soundbox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Integrate low-cost IoT Bluetooth / 4G Voice Soundboxes for instant audio payment announcements at physical retail counters.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Multi-Bank Dynamic VPA Failover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Automatically distribute high-frequency incoming transactions across multiple merchant bank accounts to avoid daily UPI velocity limits.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023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Pre-built E-Commerce Plugins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480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Release official 1-click plugins for WooCommerce (WordPress), Shopify, Magento, and WHMCS.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846320"/>
          </a:xfrm>
          <a:prstGeom prst="roundRect">
            <a:avLst/>
          </a:prstGeom>
          <a:solidFill>
            <a:srgbClr val="17203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8869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  <a:latin typeface="Arial"/>
              </a:defRPr>
            </a:pPr>
            <a:r>
              <a:t>CONCLUSION &amp; SUMMARY</a:t>
            </a:r>
          </a:p>
          <a:p>
            <a:br/>
            <a:pPr>
              <a:defRPr sz="1250">
                <a:solidFill>
                  <a:srgbClr val="E2E8F0"/>
                </a:solidFill>
                <a:latin typeface="Arial"/>
              </a:defRPr>
            </a:pPr>
            <a:r>
              <a:t>✓ MyMobPay demonstrates that modern full-stack cloud computing (Next.js 14 + Supabase) combined with mobile daemon webhooks can completely bypass traditional payment aggregator monopolies.</a:t>
            </a:r>
          </a:p>
          <a:p>
            <a:br/>
            <a:pPr>
              <a:defRPr sz="1250">
                <a:solidFill>
                  <a:srgbClr val="E2E8F0"/>
                </a:solidFill>
                <a:latin typeface="Arial"/>
              </a:defRPr>
            </a:pPr>
            <a:r>
              <a:t>✓ Delivers 100% genuine 0% MDR transaction routing with real-time automated bank reconciliation in under 2 seconds.</a:t>
            </a:r>
          </a:p>
          <a:p>
            <a:br/>
            <a:pPr>
              <a:defRPr sz="1250">
                <a:solidFill>
                  <a:srgbClr val="E2E8F0"/>
                </a:solidFill>
                <a:latin typeface="Arial"/>
              </a:defRPr>
            </a:pPr>
            <a:r>
              <a:t>✓ Eliminates custodial risk, chargeback delays, and high fees for thousands of small businesses, creators, and developers.</a:t>
            </a:r>
          </a:p>
          <a:p>
            <a:br/>
            <a:pPr>
              <a:defRPr sz="1250">
                <a:solidFill>
                  <a:srgbClr val="E2E8F0"/>
                </a:solidFill>
                <a:latin typeface="Arial"/>
              </a:defRPr>
            </a:pPr>
            <a:r>
              <a:t>✓ Fully deployed, production-tested, and live at: https://mymob.tech</a:t>
            </a:r>
          </a:p>
          <a:p>
            <a:pPr algn="ctr">
              <a:defRPr sz="1800" b="1">
                <a:solidFill>
                  <a:srgbClr val="10B981"/>
                </a:solidFill>
                <a:latin typeface="Arial"/>
              </a:defRPr>
            </a:pPr>
            <a:br/>
            <a:r>
              <a:t>Thank You! Questions &amp; Discussion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